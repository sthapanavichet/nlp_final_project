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classification problem and the two-model comparison. Aim for about 30 seconds.</a:t>
            </a:r>
          </a:p>
          <a:p>
            <a:endParaRPr/>
          </a:p>
          <a:p>
            <a:r>
              <a:t>[Sources]</a:t>
            </a:r>
          </a:p>
          <a:p>
            <a:r>
              <a:t>No external sources; project methodology or result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good aggregate performance does not make a detector proof of authorship.</a:t>
            </a:r>
          </a:p>
          <a:p>
            <a:endParaRPr/>
          </a:p>
          <a:p>
            <a:r>
              <a:t>[Sources]</a:t>
            </a:r>
          </a:p>
          <a:p>
            <a:r>
              <a:t>No external sources; project methodology or result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cleaning, duplicate removal, and the 70/15/15 stratified split.</a:t>
            </a:r>
          </a:p>
          <a:p>
            <a:endParaRPr/>
          </a:p>
          <a:p>
            <a:r>
              <a:t>[Sources]</a:t>
            </a:r>
          </a:p>
          <a:p>
            <a:r>
              <a:t>Gerami, S. AI vs Human Text. Kaggle. https://www.kaggle.com/datasets/shanegerami/ai-vs-human-text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sparse lexical features with contextual transfer learning.</a:t>
            </a:r>
          </a:p>
          <a:p>
            <a:endParaRPr/>
          </a:p>
          <a:p>
            <a:r>
              <a:t>[Sources]</a:t>
            </a:r>
          </a:p>
          <a:p>
            <a:r>
              <a:t>Sanh et al. (2019), DistilBERT, arXiv:1910.01108; Devlin et al. (2019), BERT, NAACL-HLT.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Paste values from model_comparison.csv. Do not estimate or invent them.</a:t>
            </a:r>
          </a:p>
          <a:p>
            <a:endParaRPr/>
          </a:p>
          <a:p>
            <a:r>
              <a:t>[Sources]</a:t>
            </a:r>
          </a:p>
          <a:p>
            <a:r>
              <a:t>No external sources; project methodology or result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examples from transformer_errors.csv. Emphasize the harm of false positives.</a:t>
            </a:r>
          </a:p>
          <a:p>
            <a:endParaRPr/>
          </a:p>
          <a:p>
            <a:r>
              <a:t>[Sources]</a:t>
            </a:r>
          </a:p>
          <a:p>
            <a:r>
              <a:t>Liang et al. (2023), GPT detectors are biased against non-native English writers, Patterns 4(7), 100779.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measured conclusion, then close with the responsible-use boundary and future work.</a:t>
            </a:r>
          </a:p>
          <a:p>
            <a:endParaRPr/>
          </a:p>
          <a:p>
            <a:r>
              <a:t>[Sources]</a:t>
            </a:r>
          </a:p>
          <a:p>
            <a:r>
              <a:t>No external sources; project methodology or result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55E330-FFDB-46F0-AC7F-09717B89BE1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SEA 820 NLP FINAL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1A8479-35EE-4465-8E24-897F0C53F041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7239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Detecting</a:t>
            </a:r>
          </a:p>
          <a:p>
            <a:pPr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AI-generated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3DAF19-87A9-4B81-BCF0-E31BCC5CBCB8}"/>
              </a:ext>
            </a:extLst>
          </p:cNvPr>
          <p:cNvSpPr>
            <a:spLocks noGrp="1"/>
          </p:cNvSpPr>
          <p:nvPr/>
        </p:nvSpPr>
        <p:spPr>
          <a:xfrm>
            <a:off x="8096250" y="1476375"/>
            <a:ext cx="3333750" cy="33337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13497E-0698-4CD3-A5FA-CC87F20A0DCC}"/>
              </a:ext>
            </a:extLst>
          </p:cNvPr>
          <p:cNvSpPr>
            <a:spLocks noGrp="1"/>
          </p:cNvSpPr>
          <p:nvPr/>
        </p:nvSpPr>
        <p:spPr>
          <a:xfrm>
            <a:off x="8572500" y="1952625"/>
            <a:ext cx="2381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HUMAN</a:t>
            </a:r>
          </a:p>
          <a:p>
            <a:pPr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</a:t>
            </a:r>
          </a:p>
          <a:p>
            <a:pPr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31DBF0-B454-41BC-9E1B-0288093D0E12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685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TF-IDF Logistic Regression vs. fine-tuned DistilBERT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CC248-7CAE-4DA1-A631-8F42D1F566C6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Sthapanavichet Long </a:t>
            </a:r>
            <a:r>
              <a:rPr sz="15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|  </a:t>
            </a:r>
            <a:r>
              <a:rPr lang="en-US" sz="15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Amir Abdalla</a:t>
            </a:r>
            <a:r>
              <a:rPr sz="15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|  </a:t>
            </a:r>
            <a:r>
              <a:rPr lang="en-US" sz="15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8/10/2026</a:t>
            </a:r>
            <a:endParaRPr sz="1500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8999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4FEEB9-70DD-4949-A627-7EF1DDCBCFAB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047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Detection is useful only if its uncertainty is understood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BD81A5-F7CA-4CB2-80EE-DD0B8704958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38A03-2672-4B3B-9A02-3E4EF4D3C7F1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47DFD-2085-4D00-9322-636F7DD4E9AA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 fine-tuned </a:t>
            </a:r>
            <a:r>
              <a:rPr sz="28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DistilBERT</a:t>
            </a:r>
            <a:r>
              <a:rPr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outperform a transparent TF-IDF baseline on the same held-out test set?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87B285-15B3-449D-96A7-2C4352553530}"/>
              </a:ext>
            </a:extLst>
          </p:cNvPr>
          <p:cNvSpPr>
            <a:spLocks noGrp="1"/>
          </p:cNvSpPr>
          <p:nvPr/>
        </p:nvSpPr>
        <p:spPr>
          <a:xfrm>
            <a:off x="6191250" y="1476375"/>
            <a:ext cx="5600700" cy="40005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A340FB-35B1-45E4-848B-7C31A750AA61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457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0D75E-377C-4043-A84C-4B691CE4BB3A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4476750" cy="2714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 integrity</a:t>
            </a:r>
          </a:p>
          <a:p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Content moderation</a:t>
            </a:r>
          </a:p>
          <a:p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Misinformation response</a:t>
            </a:r>
          </a:p>
          <a:p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 of false accusation</a:t>
            </a:r>
          </a:p>
        </p:txBody>
      </p:sp>
    </p:spTree>
    <p:extLst>
      <p:ext uri="{BB962C8B-B14F-4D97-AF65-F5344CB8AC3E}">
        <p14:creationId xmlns:p14="http://schemas.microsoft.com/office/powerpoint/2010/main" val="1690123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3FF086F-00C9-42BA-946E-37C3C2EE443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047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shared test set makes the comparison meaningful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CCD098-7ED1-4268-8A13-15266BBF390F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860E6B-9C68-49B7-8DA4-8FBFA535BA7D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2476500" cy="2667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A37F71-2F40-43F9-83FF-BAE2930F5E24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967CE5-4ACD-440D-9718-E27BD9F73CC5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09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Kaggle dataset</a:t>
            </a:r>
          </a:p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vs. Human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48D69E-21D5-4543-AB4A-3A35823EE690}"/>
              </a:ext>
            </a:extLst>
          </p:cNvPr>
          <p:cNvSpPr>
            <a:spLocks noGrp="1"/>
          </p:cNvSpPr>
          <p:nvPr/>
        </p:nvSpPr>
        <p:spPr>
          <a:xfrm>
            <a:off x="3238500" y="1952625"/>
            <a:ext cx="2476500" cy="2667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174AB2-7890-47C4-83BB-6817C61286FA}"/>
              </a:ext>
            </a:extLst>
          </p:cNvPr>
          <p:cNvSpPr>
            <a:spLocks noGrp="1"/>
          </p:cNvSpPr>
          <p:nvPr/>
        </p:nvSpPr>
        <p:spPr>
          <a:xfrm>
            <a:off x="3429000" y="2095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AEF72E-349C-4402-8306-A8B62F6F8B5E}"/>
              </a:ext>
            </a:extLst>
          </p:cNvPr>
          <p:cNvSpPr>
            <a:spLocks noGrp="1"/>
          </p:cNvSpPr>
          <p:nvPr/>
        </p:nvSpPr>
        <p:spPr>
          <a:xfrm>
            <a:off x="3429000" y="2857500"/>
            <a:ext cx="209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Clean + stratify</a:t>
            </a:r>
          </a:p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70 / 15 / 15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542C21-FE11-4A29-88E2-F5C4AA56369A}"/>
              </a:ext>
            </a:extLst>
          </p:cNvPr>
          <p:cNvSpPr>
            <a:spLocks noGrp="1"/>
          </p:cNvSpPr>
          <p:nvPr/>
        </p:nvSpPr>
        <p:spPr>
          <a:xfrm>
            <a:off x="6076950" y="1952625"/>
            <a:ext cx="2476500" cy="2667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F1FBE-8A79-4302-936B-2836A47B358A}"/>
              </a:ext>
            </a:extLst>
          </p:cNvPr>
          <p:cNvSpPr>
            <a:spLocks noGrp="1"/>
          </p:cNvSpPr>
          <p:nvPr/>
        </p:nvSpPr>
        <p:spPr>
          <a:xfrm>
            <a:off x="6267450" y="2095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69B649-F729-4107-9048-51E43DA623B6}"/>
              </a:ext>
            </a:extLst>
          </p:cNvPr>
          <p:cNvSpPr>
            <a:spLocks noGrp="1"/>
          </p:cNvSpPr>
          <p:nvPr/>
        </p:nvSpPr>
        <p:spPr>
          <a:xfrm>
            <a:off x="6267450" y="2857500"/>
            <a:ext cx="209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 two models</a:t>
            </a:r>
          </a:p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Classic + Transformer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BD0215-8624-4AC2-86FF-D0B56DCC5239}"/>
              </a:ext>
            </a:extLst>
          </p:cNvPr>
          <p:cNvSpPr>
            <a:spLocks noGrp="1"/>
          </p:cNvSpPr>
          <p:nvPr/>
        </p:nvSpPr>
        <p:spPr>
          <a:xfrm>
            <a:off x="8915400" y="1952625"/>
            <a:ext cx="2476500" cy="2667000"/>
          </a:xfrm>
          <a:prstGeom prst="rect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6DA13-9BD1-4977-92DB-56237973CC5A}"/>
              </a:ext>
            </a:extLst>
          </p:cNvPr>
          <p:cNvSpPr>
            <a:spLocks noGrp="1"/>
          </p:cNvSpPr>
          <p:nvPr/>
        </p:nvSpPr>
        <p:spPr>
          <a:xfrm>
            <a:off x="9105900" y="2095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F641F7-F20C-4E87-BC2D-3FE79B2DE055}"/>
              </a:ext>
            </a:extLst>
          </p:cNvPr>
          <p:cNvSpPr>
            <a:spLocks noGrp="1"/>
          </p:cNvSpPr>
          <p:nvPr/>
        </p:nvSpPr>
        <p:spPr>
          <a:xfrm>
            <a:off x="9105900" y="2857500"/>
            <a:ext cx="209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Evaluate</a:t>
            </a:r>
          </a:p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Metrics + errors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81B967-A7C4-4DAA-A71C-50C31751CD95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Default final run: 12,000 stratified samples | seed 42 | AI is the positive class</a:t>
            </a:r>
          </a:p>
        </p:txBody>
      </p:sp>
    </p:spTree>
    <p:extLst>
      <p:ext uri="{BB962C8B-B14F-4D97-AF65-F5344CB8AC3E}">
        <p14:creationId xmlns:p14="http://schemas.microsoft.com/office/powerpoint/2010/main" val="165806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0619DDB-292C-42A4-B8C9-42A5CA829CB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047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models test feature engineering against transfer learning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D376D7-2020-4F71-BD05-983B3B6BA2B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1E9104-71BC-4A1E-8827-739437E1973F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5334000" cy="40005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34137-A142-4DA2-B9BA-4284E888A051}"/>
              </a:ext>
            </a:extLst>
          </p:cNvPr>
          <p:cNvSpPr>
            <a:spLocks noGrp="1"/>
          </p:cNvSpPr>
          <p:nvPr/>
        </p:nvSpPr>
        <p:spPr>
          <a:xfrm>
            <a:off x="6457950" y="1571625"/>
            <a:ext cx="5334000" cy="400050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4BCE6-9800-4A6D-9AB3-8AEE0C50A86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Classic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060070-0FAA-4720-903C-C6DB5444FC8F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47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TF-IDF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481D25-4077-4463-873C-D48211D16805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4476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Unigrams + bigrams</a:t>
            </a:r>
          </a:p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100,000-feature cap</a:t>
            </a:r>
          </a:p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Class-balanced Logistic Regression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FC8FE1-C487-43A2-91F8-CA34B148F85C}"/>
              </a:ext>
            </a:extLst>
          </p:cNvPr>
          <p:cNvSpPr>
            <a:spLocks noGrp="1"/>
          </p:cNvSpPr>
          <p:nvPr/>
        </p:nvSpPr>
        <p:spPr>
          <a:xfrm>
            <a:off x="6743700" y="18097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Transformer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B59E95-6ED8-473B-A962-3337D97FAF8C}"/>
              </a:ext>
            </a:extLst>
          </p:cNvPr>
          <p:cNvSpPr>
            <a:spLocks noGrp="1"/>
          </p:cNvSpPr>
          <p:nvPr/>
        </p:nvSpPr>
        <p:spPr>
          <a:xfrm>
            <a:off x="6743700" y="2571750"/>
            <a:ext cx="447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DistilBERT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A94750-B2F8-4FF2-AEA5-F0AD339BBC05}"/>
              </a:ext>
            </a:extLst>
          </p:cNvPr>
          <p:cNvSpPr>
            <a:spLocks noGrp="1"/>
          </p:cNvSpPr>
          <p:nvPr/>
        </p:nvSpPr>
        <p:spPr>
          <a:xfrm>
            <a:off x="6743700" y="3429000"/>
            <a:ext cx="4476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256-token maximum</a:t>
            </a:r>
          </a:p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Batch size 16 | learning rate 2e-5</a:t>
            </a:r>
          </a:p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Best validation-F1 checkpoint</a:t>
            </a:r>
          </a:p>
        </p:txBody>
      </p:sp>
    </p:spTree>
    <p:extLst>
      <p:ext uri="{BB962C8B-B14F-4D97-AF65-F5344CB8AC3E}">
        <p14:creationId xmlns:p14="http://schemas.microsoft.com/office/powerpoint/2010/main" val="93540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7F513DB-4B27-4556-BC3D-6E9919EAC57A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047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Results will identify whether added complexity pays off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79A00-FAC9-48D8-8765-9FC618ED58D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50FEC1-33AB-4AFE-9C00-07EFDF9A508D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3714750" cy="5905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A1BE07-52FD-4D52-B8DD-37646755533F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3486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1C64A-F6AF-4C48-9473-879E9AF11F3D}"/>
              </a:ext>
            </a:extLst>
          </p:cNvPr>
          <p:cNvSpPr>
            <a:spLocks noGrp="1"/>
          </p:cNvSpPr>
          <p:nvPr/>
        </p:nvSpPr>
        <p:spPr>
          <a:xfrm>
            <a:off x="4286250" y="1085850"/>
            <a:ext cx="1714500" cy="5905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007B20-D210-4E08-8077-8AAFDE25EF44}"/>
              </a:ext>
            </a:extLst>
          </p:cNvPr>
          <p:cNvSpPr>
            <a:spLocks noGrp="1"/>
          </p:cNvSpPr>
          <p:nvPr/>
        </p:nvSpPr>
        <p:spPr>
          <a:xfrm>
            <a:off x="4400550" y="1181100"/>
            <a:ext cx="1485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4A2C2-7319-48A6-B3FD-69B55B62BBF8}"/>
              </a:ext>
            </a:extLst>
          </p:cNvPr>
          <p:cNvSpPr>
            <a:spLocks noGrp="1"/>
          </p:cNvSpPr>
          <p:nvPr/>
        </p:nvSpPr>
        <p:spPr>
          <a:xfrm>
            <a:off x="6191250" y="1085850"/>
            <a:ext cx="1714500" cy="5905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94E775-B3CC-4E01-8462-3CC8EA5F0182}"/>
              </a:ext>
            </a:extLst>
          </p:cNvPr>
          <p:cNvSpPr>
            <a:spLocks noGrp="1"/>
          </p:cNvSpPr>
          <p:nvPr/>
        </p:nvSpPr>
        <p:spPr>
          <a:xfrm>
            <a:off x="6305550" y="1181100"/>
            <a:ext cx="1485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1F4B4B-44FD-42A5-BC47-F0836E2DA527}"/>
              </a:ext>
            </a:extLst>
          </p:cNvPr>
          <p:cNvSpPr>
            <a:spLocks noGrp="1"/>
          </p:cNvSpPr>
          <p:nvPr/>
        </p:nvSpPr>
        <p:spPr>
          <a:xfrm>
            <a:off x="8096250" y="1085850"/>
            <a:ext cx="1714500" cy="5905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9F4590-DFA1-4ECB-B969-9F9383F56A4F}"/>
              </a:ext>
            </a:extLst>
          </p:cNvPr>
          <p:cNvSpPr>
            <a:spLocks noGrp="1"/>
          </p:cNvSpPr>
          <p:nvPr/>
        </p:nvSpPr>
        <p:spPr>
          <a:xfrm>
            <a:off x="8210550" y="1181100"/>
            <a:ext cx="1485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7DCC57-E1B7-4FD6-B345-7240FFA939E8}"/>
              </a:ext>
            </a:extLst>
          </p:cNvPr>
          <p:cNvSpPr>
            <a:spLocks noGrp="1"/>
          </p:cNvSpPr>
          <p:nvPr/>
        </p:nvSpPr>
        <p:spPr>
          <a:xfrm>
            <a:off x="10001250" y="1085850"/>
            <a:ext cx="1790700" cy="5905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909A84-3773-4A18-BE15-0DFCB0E9D38A}"/>
              </a:ext>
            </a:extLst>
          </p:cNvPr>
          <p:cNvSpPr>
            <a:spLocks noGrp="1"/>
          </p:cNvSpPr>
          <p:nvPr/>
        </p:nvSpPr>
        <p:spPr>
          <a:xfrm>
            <a:off x="10115550" y="1181100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FB471B-C837-4FF8-B347-4E1D1AC42F95}"/>
              </a:ext>
            </a:extLst>
          </p:cNvPr>
          <p:cNvSpPr>
            <a:spLocks noGrp="1"/>
          </p:cNvSpPr>
          <p:nvPr/>
        </p:nvSpPr>
        <p:spPr>
          <a:xfrm>
            <a:off x="514350" y="1943100"/>
            <a:ext cx="3486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TF-IDF + Logistic Regression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DC9BB0-C63D-45AC-97E5-B3F7A67DED3F}"/>
              </a:ext>
            </a:extLst>
          </p:cNvPr>
          <p:cNvSpPr>
            <a:spLocks noGrp="1"/>
          </p:cNvSpPr>
          <p:nvPr/>
        </p:nvSpPr>
        <p:spPr>
          <a:xfrm>
            <a:off x="4400550" y="1943100"/>
            <a:ext cx="1485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828</a:t>
            </a:r>
            <a:endParaRPr sz="1800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933DD7-12F6-4650-8275-694B5CF3E481}"/>
              </a:ext>
            </a:extLst>
          </p:cNvPr>
          <p:cNvSpPr>
            <a:spLocks noGrp="1"/>
          </p:cNvSpPr>
          <p:nvPr/>
        </p:nvSpPr>
        <p:spPr>
          <a:xfrm>
            <a:off x="6305550" y="1943100"/>
            <a:ext cx="1485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0.9908</a:t>
            </a:r>
            <a:endParaRPr sz="1800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4FE53B-D346-4501-8346-A3EE30399DDE}"/>
              </a:ext>
            </a:extLst>
          </p:cNvPr>
          <p:cNvSpPr>
            <a:spLocks noGrp="1"/>
          </p:cNvSpPr>
          <p:nvPr/>
        </p:nvSpPr>
        <p:spPr>
          <a:xfrm>
            <a:off x="8210550" y="1943100"/>
            <a:ext cx="1485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0.9627</a:t>
            </a:r>
            <a:endParaRPr sz="1800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9E603E-7F8E-45B0-98EB-B720AF7B22D9}"/>
              </a:ext>
            </a:extLst>
          </p:cNvPr>
          <p:cNvSpPr>
            <a:spLocks noGrp="1"/>
          </p:cNvSpPr>
          <p:nvPr/>
        </p:nvSpPr>
        <p:spPr>
          <a:xfrm>
            <a:off x="10115550" y="1943100"/>
            <a:ext cx="1562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0.9765</a:t>
            </a: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62131A-9C72-4E23-A814-0409DA48AD0C}"/>
              </a:ext>
            </a:extLst>
          </p:cNvPr>
          <p:cNvSpPr>
            <a:spLocks noGrp="1"/>
          </p:cNvSpPr>
          <p:nvPr/>
        </p:nvSpPr>
        <p:spPr>
          <a:xfrm>
            <a:off x="514350" y="2752725"/>
            <a:ext cx="3486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DistilBERT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DBB5A4-5509-4786-B468-A5B99B7950F8}"/>
              </a:ext>
            </a:extLst>
          </p:cNvPr>
          <p:cNvSpPr>
            <a:spLocks noGrp="1"/>
          </p:cNvSpPr>
          <p:nvPr/>
        </p:nvSpPr>
        <p:spPr>
          <a:xfrm>
            <a:off x="4400550" y="2752725"/>
            <a:ext cx="1485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0.9778</a:t>
            </a:r>
            <a:endParaRPr sz="1800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12B1A1-B987-4623-AD3E-DC9E0EE03848}"/>
              </a:ext>
            </a:extLst>
          </p:cNvPr>
          <p:cNvSpPr>
            <a:spLocks noGrp="1"/>
          </p:cNvSpPr>
          <p:nvPr/>
        </p:nvSpPr>
        <p:spPr>
          <a:xfrm>
            <a:off x="6305550" y="2752725"/>
            <a:ext cx="1485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0.9578</a:t>
            </a:r>
            <a:endParaRPr sz="1800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D28413-E513-4BE2-8559-411337AD0719}"/>
              </a:ext>
            </a:extLst>
          </p:cNvPr>
          <p:cNvSpPr>
            <a:spLocks noGrp="1"/>
          </p:cNvSpPr>
          <p:nvPr/>
        </p:nvSpPr>
        <p:spPr>
          <a:xfrm>
            <a:off x="8210550" y="2752725"/>
            <a:ext cx="1485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0.9836</a:t>
            </a:r>
            <a:endParaRPr sz="1800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FE676E-E836-4DB9-A073-60988F9023F1}"/>
              </a:ext>
            </a:extLst>
          </p:cNvPr>
          <p:cNvSpPr>
            <a:spLocks noGrp="1"/>
          </p:cNvSpPr>
          <p:nvPr/>
        </p:nvSpPr>
        <p:spPr>
          <a:xfrm>
            <a:off x="10115550" y="2752725"/>
            <a:ext cx="1562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0.9705</a:t>
            </a: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D3D256-D680-4E5C-B0D5-8E728A8C6D2A}"/>
              </a:ext>
            </a:extLst>
          </p:cNvPr>
          <p:cNvSpPr>
            <a:spLocks noGrp="1"/>
          </p:cNvSpPr>
          <p:nvPr/>
        </p:nvSpPr>
        <p:spPr>
          <a:xfrm>
            <a:off x="304800" y="3581401"/>
            <a:ext cx="113919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06E297-3CAA-49D6-9265-1255FD674754}"/>
              </a:ext>
            </a:extLst>
          </p:cNvPr>
          <p:cNvSpPr>
            <a:spLocks noGrp="1"/>
          </p:cNvSpPr>
          <p:nvPr/>
        </p:nvSpPr>
        <p:spPr>
          <a:xfrm>
            <a:off x="304800" y="3819526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950" dirty="0"/>
              <a:t>The TF-IDF baseline achieved the highest F1-score, outperforming </a:t>
            </a:r>
            <a:r>
              <a:rPr lang="en-US" sz="1950" dirty="0" err="1"/>
              <a:t>DistilBERT</a:t>
            </a:r>
            <a:r>
              <a:rPr lang="en-US" sz="1950" dirty="0"/>
              <a:t> by 0.60 percentage points. </a:t>
            </a:r>
            <a:r>
              <a:rPr lang="en-US" sz="1950" dirty="0" err="1"/>
              <a:t>DistilBERT</a:t>
            </a:r>
            <a:r>
              <a:rPr lang="en-US" sz="1950" dirty="0"/>
              <a:t> achieved higher recall but produced more false positives.</a:t>
            </a:r>
            <a:endParaRPr sz="19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011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A19C08-084A-49F6-8AB8-C09D2F57398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047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most important errors are confident false accusations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AF427B-3AE2-4E23-811B-934240AEB935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81E1B6-CC5D-4B5F-973E-D19989E16DCA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5334000" cy="3905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3F536C-38E0-4EF5-8006-39796329298E}"/>
              </a:ext>
            </a:extLst>
          </p:cNvPr>
          <p:cNvSpPr>
            <a:spLocks noGrp="1"/>
          </p:cNvSpPr>
          <p:nvPr/>
        </p:nvSpPr>
        <p:spPr>
          <a:xfrm>
            <a:off x="6457950" y="1476375"/>
            <a:ext cx="5334000" cy="3905250"/>
          </a:xfrm>
          <a:prstGeom prst="rect">
            <a:avLst/>
          </a:prstGeom>
          <a:solidFill>
            <a:srgbClr val="FFF2CC"/>
          </a:solidFill>
          <a:ln w="0">
            <a:solidFill>
              <a:srgbClr val="FFF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E17C5-1FD6-4729-BCD9-61DC9F359E0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Error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0C12F8-4530-4C46-912E-86FB8B90B2BC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4476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r>
              <a:rPr lang="en-US" sz="2000" dirty="0" err="1"/>
              <a:t>DistilBERT</a:t>
            </a:r>
            <a:r>
              <a:rPr lang="en-US" sz="2000" dirty="0"/>
              <a:t> errors:</a:t>
            </a:r>
            <a:br>
              <a:rPr lang="en-US" sz="2000" dirty="0"/>
            </a:br>
            <a:r>
              <a:rPr lang="en-US" sz="2000" dirty="0"/>
              <a:t>29 false positives</a:t>
            </a:r>
            <a:br>
              <a:rPr lang="en-US" sz="2000" dirty="0"/>
            </a:br>
            <a:r>
              <a:rPr lang="en-US" sz="2000" dirty="0"/>
              <a:t>11 false negatives</a:t>
            </a:r>
          </a:p>
          <a:p>
            <a:r>
              <a:rPr lang="en-US" sz="2000"/>
              <a:t>High recall came at the cost of incorrectly flagging more human writing.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1813E7-421A-4D8D-A673-EC77EFC4F767}"/>
              </a:ext>
            </a:extLst>
          </p:cNvPr>
          <p:cNvSpPr>
            <a:spLocks noGrp="1"/>
          </p:cNvSpPr>
          <p:nvPr/>
        </p:nvSpPr>
        <p:spPr>
          <a:xfrm>
            <a:off x="6743700" y="17145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Responsible-use limit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77FA5-1689-4422-ACA8-81DDDE49625B}"/>
              </a:ext>
            </a:extLst>
          </p:cNvPr>
          <p:cNvSpPr>
            <a:spLocks noGrp="1"/>
          </p:cNvSpPr>
          <p:nvPr/>
        </p:nvSpPr>
        <p:spPr>
          <a:xfrm>
            <a:off x="6743700" y="2333625"/>
            <a:ext cx="4476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Never treat a score as proof</a:t>
            </a:r>
          </a:p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 human review and appeal</a:t>
            </a:r>
          </a:p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subgroup performance</a:t>
            </a:r>
          </a:p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Expect drift on new generators</a:t>
            </a:r>
          </a:p>
        </p:txBody>
      </p:sp>
    </p:spTree>
    <p:extLst>
      <p:ext uri="{BB962C8B-B14F-4D97-AF65-F5344CB8AC3E}">
        <p14:creationId xmlns:p14="http://schemas.microsoft.com/office/powerpoint/2010/main" val="25178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EFCCE1-5A0F-4F13-B60F-DF95C620C05A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047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detector is evidence to review, not a verdict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DE196F-0A91-4321-A7DA-FE2AE9954E8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6D8FE6-9B45-4663-9E72-BA98219636C1}"/>
              </a:ext>
            </a:extLst>
          </p:cNvPr>
          <p:cNvSpPr>
            <a:spLocks noGrp="1"/>
          </p:cNvSpPr>
          <p:nvPr/>
        </p:nvSpPr>
        <p:spPr>
          <a:xfrm>
            <a:off x="400050" y="1371600"/>
            <a:ext cx="9525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9C6500"/>
                </a:solidFill>
                <a:latin typeface="Arial"/>
                <a:ea typeface="Arial"/>
                <a:cs typeface="Arial"/>
              </a:defRPr>
            </a:pPr>
            <a:r>
              <a:rPr lang="en-US" sz="1875" b="1" dirty="0"/>
              <a:t>TF-IDF Logistic Regression was the best overall model: 98.28% accuracy and 97.65% F1.</a:t>
            </a:r>
            <a:endParaRPr sz="1875" b="1" dirty="0">
              <a:solidFill>
                <a:srgbClr val="9C65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7FD924-C13A-4533-80E0-8B1F3A90B66E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8229B-4183-4F39-90E7-E211B7B4FBC2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7810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A fair comparison needs one held-out test set.</a:t>
            </a:r>
          </a:p>
          <a:p>
            <a:endParaRPr sz="22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F1 and error types matter more than accuracy alone.</a:t>
            </a:r>
          </a:p>
          <a:p>
            <a:endParaRPr sz="22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Generalization and fairness remain unresolved.</a:t>
            </a:r>
          </a:p>
        </p:txBody>
      </p:sp>
    </p:spTree>
    <p:extLst>
      <p:ext uri="{BB962C8B-B14F-4D97-AF65-F5344CB8AC3E}">
        <p14:creationId xmlns:p14="http://schemas.microsoft.com/office/powerpoint/2010/main" val="13338722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551</Words>
  <Application>Microsoft Office PowerPoint</Application>
  <DocSecurity>0</DocSecurity>
  <PresentationFormat>Widescreen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Sthapanavichet Long</cp:lastModifiedBy>
  <cp:revision>3</cp:revision>
  <dcterms:created xsi:type="dcterms:W3CDTF">2026-08-11T01:17:31Z</dcterms:created>
  <dcterms:modified xsi:type="dcterms:W3CDTF">2026-08-11T02:38:47Z</dcterms:modified>
</cp:coreProperties>
</file>